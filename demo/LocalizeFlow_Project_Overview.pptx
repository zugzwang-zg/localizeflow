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平均分</c:v>
                </c:pt>
              </c:strCache>
            </c:strRef>
          </c:tx>
          <c:spPr>
            <a:solidFill>
              <a:srgbClr val="1E66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LocalizeFlow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2.78</c:v>
                </c:pt>
                <c:pt idx="1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LocalizeFlow 不是一个只把中文翻成英文或西班牙文的工具。它把商品事实、消费者洞察、品牌语言和平台规则放进同一条可追溯工作流，重点解决跨境内容生成后的事实风险和复核成本。当前原型覆盖五个虚拟 SKU、美国和墨西哥两个市场，并且无需 API 即可本地演示。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用户是需要同时处理商品资料、多语言表达和平台格式的跨境内容运营。典型任务从选择商品和市场开始，系统生成三类内容并显示事实来源，运营人员完成质量检查、人工修订和终审后才能导出。这里的产品边界非常明确：系统交付的是带证据的候选稿，不负责自动发布，也不替代专业审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先把五个商品拆成结构化事实，而不是让模型直接阅读一整段产品说明。每条事实保存来源、证据等级、适用市场和生成门控。以精华为例，容量、配方和允许宣称都有明确边界，而“不黏腻”因为缺少产品测试会被阻断。生成后的每条声明都能追到 fact_id 和来源，事实错误也不能被较高的语言分数覆盖。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消费者洞察在这里是一种语言与策略资源，而不是产品证据。项目人工通读了五十条英语和五十条西语评论，但源数据没有评论者国家，所以只能作为内容语言代理。洞察分为 eligible、strategy only 和 blocked 三类。比如柔软肤感有商品事实支持，可以谨慎生成；不黏腻和快速吸收没有产品测试，因此即使评论中出现，也不能写成产品结论。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核心工作流拆成七个单一职责节点，从事实加载、策略选择、本地化、内容生成，到事实核验、规则检查和质量评分。所有节点使用统一 JSON envelope 保存输入引用、资产版本、运行 attempt 和错误位置。高风险事实错误或平台硬规则失败会直接阻断。人工修改后必须创建新版本，并重新运行事实与规则检查，最后仍需人工批准。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把核心链路压缩成五个页面。演示时可以选择商品和市场，一次查看 Listing、短视频和社媒内容，随后进入质量检查定位事实和语言问题。人工修改后系统会重新复检，只有勾选最终确认才开放 CSV 和 JSON。为了保证项目可复现，当前使用冻结内容和确定性模板，不调用 API，也不连接真实发布平台。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评测采用三十组 A/B、六十条匿名候选。LocalizeFlow 的七维总体均分从二点七八提高到四点二，修改次数减少百分之六十一点五，审核时间减少百分之二十五点八，事实通过率提升二十六点七个百分点。与此同时，代表性 SKU 的事实错误率仍然是百分之三十三点三，主要与包装字段有关。业务报告里的百分之八十四点四只是一项 AI 情景估算，不是人工实测，不能表述为已验证效率提升。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的价值不只在于展示结果，也在于把局限和责任边界写清楚。当前样本规模小、只有一位评审者，洞察也没有国家字段，在线模型的延迟和成本尚未测试。下一步会先补强包装事实字段和多评审评测，然后在配置 API 后记录真实模型调用。任何密钥都只进入本地环境变量，不写入代码、文档或截图。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967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57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LOCALIZEFLOW  ·  EVIDENCE-FIRST LOCALIZATION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94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9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4300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让跨境内容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有据可查，再谈本地表达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163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FE2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面向美国英语与墨西哥西班牙语市场的商品本地化 Copilot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6850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3703320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SKU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874520" y="3685032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47672" y="3703320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MARKETS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337560" y="36850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3703320"/>
            <a:ext cx="1426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A/B PAIRS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315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B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59943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直译难兼顾事实准确、语言自然、品牌一致与平台适配；生成后仍需高成本人工复核。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566928"/>
            <a:ext cx="5504688" cy="5449824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0" descr="LocalizeFlow Streamlit Demo 首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795528"/>
            <a:ext cx="5084064" cy="28620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327648" y="3959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不是“翻译器”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27648" y="43616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→ 洞察 → 本地化 → 规则预检 → 人工终审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48828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每条内容保留 fact_id / insight_id / rule_id 与版本记录。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55321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产品原型 · 可本地运行 · 无需 API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USERS &amp; SCENARIO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核心用户：跨境电商内容运营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从收到中文商品资料，到交付可进入发布审核的多语言内容包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788920" cy="4325112"/>
          </a:xfrm>
          <a:prstGeom prst="roundRect">
            <a:avLst>
              <a:gd name="adj" fmla="val 7213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47672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50592"/>
            <a:ext cx="2240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内容运营 / 本地化项目助理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DD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日常任务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02736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接收中文商品资料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编写多市场 Listing / 脚本 / 社媒文案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核对功效、术语、语气和平台格式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记录修改并交付后续审核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2760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需要的是“带证据的草稿”，不是自动发布。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1874520"/>
            <a:ext cx="1444752" cy="3154680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0848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210312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8072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选商品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36499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查看事实与禁限表达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4648" y="3346704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2350008"/>
            <a:ext cx="1444752" cy="3154680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5603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59552" y="25786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28269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定任务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84048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市场、平台、受众、目标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30568" y="3346704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874520"/>
            <a:ext cx="1444752" cy="3154680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0848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05472" y="210312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8072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看生成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36499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三类内容 + 来源引用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76488" y="3346704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2350008"/>
            <a:ext cx="1444752" cy="3154680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25603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51392" y="25786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28269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做质检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384048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术语 / 规则门槛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22408" y="3346704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87000" y="1874520"/>
            <a:ext cx="1444752" cy="3154680"/>
          </a:xfrm>
          <a:prstGeom prst="roundRect">
            <a:avLst>
              <a:gd name="adj" fmla="val 11392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20848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497312" y="210312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10424160" y="28072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修订导出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336499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复检、终审、CSV / JSON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703320" y="5623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6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放行边界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754880" y="55504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自动检查通过后仍显示“等待人工终审”；系统不发布、不代替法务，也不保证平台批准。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PRODUCT FACT DATABASE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先建立事实边界，再允许生成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将产品描述拆成最小事实单元：来源、证据等级、市场范围与生成门控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623560" cy="4526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65376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83664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MV-SERUM-001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水衡保湿精华 · 30 mL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59536" y="278892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807208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F003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7797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779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mL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919472" y="2788920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92624" y="280720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不可变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59536" y="335584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374136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F008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33467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3467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不透明 PP 按压泵瓶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919472" y="3355848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92624" y="337413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需核验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59536" y="392277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3941064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F014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39136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9136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透明质酸钠、泛醇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4919472" y="3922776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92624" y="394106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谨慎复述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59536" y="4489704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" y="4507992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F022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1572768" y="44805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肤感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4480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helps skin feel hydrated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919472" y="4489704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92624" y="450799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允许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9536" y="505663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" y="5074920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F038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1572768" y="504748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不黏腻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194560" y="5047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缺少产品测试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4919472" y="50566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92624" y="5074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阻断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859536" y="5760720"/>
            <a:ext cx="4983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每个声明都能追到具体字段，而不是只引用一份笼统产品说明。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620256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一条内容如何被追溯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20256" y="2322576"/>
            <a:ext cx="4599432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25054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0" y="2523744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243230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“Helps skin feel soft.”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8778240" y="3054096"/>
            <a:ext cx="274320" cy="219456"/>
          </a:xfrm>
          <a:prstGeom prst="downArrow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0256" y="3264408"/>
            <a:ext cx="4599432" cy="722376"/>
          </a:xfrm>
          <a:prstGeom prst="roundRect">
            <a:avLst>
              <a:gd name="adj" fmla="val 20253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84848" y="344728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0" y="3465576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7680960" y="337413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MV-SERUM-001-F022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778240" y="3995928"/>
            <a:ext cx="274320" cy="219456"/>
          </a:xfrm>
          <a:prstGeom prst="downArrow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0256" y="4206240"/>
            <a:ext cx="4599432" cy="722376"/>
          </a:xfrm>
          <a:prstGeom prst="roundRect">
            <a:avLst>
              <a:gd name="adj" fmla="val 20253"/>
            </a:avLst>
          </a:prstGeom>
          <a:solidFill>
            <a:srgbClr val="F8EDC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84848" y="438912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0" y="440740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7680960" y="431596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SIM-CLAIM-SERUM-V1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8778240" y="4937760"/>
            <a:ext cx="274320" cy="219456"/>
          </a:xfrm>
          <a:prstGeom prst="downArrow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0256" y="5148072"/>
            <a:ext cx="4599432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84848" y="53309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58000" y="5349240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80" dirty="0"/>
          </a:p>
        </p:txBody>
      </p:sp>
      <p:sp>
        <p:nvSpPr>
          <p:cNvPr id="59" name="Text 57"/>
          <p:cNvSpPr txBox="1"/>
          <p:nvPr/>
        </p:nvSpPr>
        <p:spPr>
          <a:xfrm>
            <a:off x="7680960" y="525780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supported → 可进入规则检查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6620256" y="5925312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693408" y="5943600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事实错误优先级最高</a:t>
            </a:r>
            <a:endParaRPr lang="en-US" sz="880" dirty="0"/>
          </a:p>
        </p:txBody>
      </p:sp>
      <p:sp>
        <p:nvSpPr>
          <p:cNvPr id="62" name="Text 60"/>
          <p:cNvSpPr txBox="1"/>
          <p:nvPr/>
        </p:nvSpPr>
        <p:spPr>
          <a:xfrm>
            <a:off x="8668512" y="59253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高分不能覆盖 unsupported / contradicted。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CONSUMER INSIGHT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消费者语言只决定“怎么说”，不能决定“产品有什么”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开发样本用于选择角度；只有事实支持的洞察才可进入生成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154680" cy="4526280"/>
          </a:xfrm>
          <a:prstGeom prst="roundRect">
            <a:avLst>
              <a:gd name="adj" fmla="val 6377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0195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8EDCF"/>
          </a:solidFill>
          <a:ln w="12700">
            <a:solidFill>
              <a:srgbClr val="F8EDC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1316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PROXY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04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探索样本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2889504"/>
            <a:ext cx="2578608" cy="960120"/>
          </a:xfrm>
          <a:prstGeom prst="roundRect">
            <a:avLst>
              <a:gd name="adj" fmla="val 15238"/>
            </a:avLst>
          </a:prstGeom>
          <a:solidFill>
            <a:srgbClr val="173E3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9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英语评论 · US 内容语言代理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4023360"/>
            <a:ext cx="2578608" cy="960120"/>
          </a:xfrm>
          <a:prstGeom prst="roundRect">
            <a:avLst>
              <a:gd name="adj" fmla="val 15238"/>
            </a:avLst>
          </a:prstGeom>
          <a:solidFill>
            <a:srgbClr val="173E3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4142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9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544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西语评论 · MX 内容语言代理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321808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8B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没有评论者国家字段，因此不代表两国总体消费者趋势。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105656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洞察进入工作流的三道门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05656" y="2304288"/>
            <a:ext cx="7360920" cy="914400"/>
          </a:xfrm>
          <a:prstGeom prst="roundRect">
            <a:avLst>
              <a:gd name="adj" fmla="val 18000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25877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98264" y="2606040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5797296" y="24505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柔软、舒适的可感知肤感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797296" y="27889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F022 / F024 支持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105656" y="3465576"/>
            <a:ext cx="7360920" cy="914400"/>
          </a:xfrm>
          <a:prstGeom prst="roundRect">
            <a:avLst>
              <a:gd name="adj" fmla="val 18000"/>
            </a:avLst>
          </a:prstGeom>
          <a:solidFill>
            <a:srgbClr val="F8EDC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3749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376732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ONLY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5797296" y="36118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强调日常护理步骤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797296" y="39502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只影响结构与语气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105656" y="4626864"/>
            <a:ext cx="7360920" cy="914400"/>
          </a:xfrm>
          <a:prstGeom prst="roundRect">
            <a:avLst>
              <a:gd name="adj" fmla="val 18000"/>
            </a:avLst>
          </a:prstGeom>
          <a:solidFill>
            <a:srgbClr val="F7DDD8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5112" y="49103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98264" y="4928616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80" dirty="0"/>
          </a:p>
        </p:txBody>
      </p:sp>
      <p:sp>
        <p:nvSpPr>
          <p:cNvPr id="30" name="Text 28"/>
          <p:cNvSpPr txBox="1"/>
          <p:nvPr/>
        </p:nvSpPr>
        <p:spPr>
          <a:xfrm>
            <a:off x="5797296" y="47731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66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不黏腻、快速吸收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797296" y="51114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只有评论信号，无产品测试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105656" y="5742432"/>
            <a:ext cx="7360920" cy="41148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15968" y="5806440"/>
            <a:ext cx="6912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 → 事实匹配 → 品牌限定语 → 生成；任何一步缺失都不能把偏好改写成功效。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MULTI-NODE WORKFLOW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七节点工作流：把生成、核验与人工责任拆开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JSON envelope 保存输入引用、资产版本、节点 attempt、错误位置与人工修改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335024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N01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47672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9384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1992" y="1874520"/>
            <a:ext cx="1444752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86584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N02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194767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Campaign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94176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86784" y="1874520"/>
            <a:ext cx="137160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224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51376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1947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Localizer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85816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78424" y="1874520"/>
            <a:ext cx="1499616" cy="566928"/>
          </a:xfrm>
          <a:prstGeom prst="roundRect">
            <a:avLst>
              <a:gd name="adj" fmla="val 24194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9864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43016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N04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194767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05472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874520"/>
            <a:ext cx="1353312" cy="566928"/>
          </a:xfrm>
          <a:prstGeom prst="roundRect">
            <a:avLst>
              <a:gd name="adj" fmla="val 24194"/>
            </a:avLst>
          </a:prstGeom>
          <a:solidFill>
            <a:srgbClr val="F8EDC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62672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N05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19476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78824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71432" y="1874520"/>
            <a:ext cx="1353312" cy="566928"/>
          </a:xfrm>
          <a:prstGeom prst="roundRect">
            <a:avLst>
              <a:gd name="adj" fmla="val 24194"/>
            </a:avLst>
          </a:prstGeom>
          <a:solidFill>
            <a:srgbClr val="F8EDC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62872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36024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N06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9793224" y="19476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52176" y="2048256"/>
            <a:ext cx="256032" cy="228600"/>
          </a:xfrm>
          <a:prstGeom prst="chevron">
            <a:avLst/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44784" y="1874520"/>
            <a:ext cx="118872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36224" y="200253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009376" y="20208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N07</a:t>
            </a:r>
            <a:endParaRPr lang="en-US" sz="880" dirty="0"/>
          </a:p>
        </p:txBody>
      </p:sp>
      <p:sp>
        <p:nvSpPr>
          <p:cNvPr id="38" name="Text 36"/>
          <p:cNvSpPr txBox="1"/>
          <p:nvPr/>
        </p:nvSpPr>
        <p:spPr>
          <a:xfrm>
            <a:off x="11466576" y="194767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2880360"/>
            <a:ext cx="3675888" cy="257860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31546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6112" y="3172968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369417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run_id  ·  trace_id  ·  version_id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160520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每个节点输出统一 envelope；重试创建新 attempt，人工修改创建新版本，旧内容和失败记录不覆盖。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4462272" y="2880360"/>
            <a:ext cx="3291840" cy="2578608"/>
          </a:xfrm>
          <a:prstGeom prst="roundRect">
            <a:avLst>
              <a:gd name="adj" fmla="val 7092"/>
            </a:avLst>
          </a:prstGeom>
          <a:solidFill>
            <a:srgbClr val="F7DDD8"/>
          </a:solidFill>
          <a:ln w="12700">
            <a:solidFill>
              <a:srgbClr val="D664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18304" y="3154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66456"/>
          </a:solidFill>
          <a:ln w="12700">
            <a:solidFill>
              <a:srgbClr val="D66456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91456" y="3172968"/>
            <a:ext cx="950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</a:t>
            </a:r>
            <a:endParaRPr lang="en-US" sz="880" dirty="0"/>
          </a:p>
        </p:txBody>
      </p:sp>
      <p:sp>
        <p:nvSpPr>
          <p:cNvPr id="47" name="Text 45"/>
          <p:cNvSpPr txBox="1"/>
          <p:nvPr/>
        </p:nvSpPr>
        <p:spPr>
          <a:xfrm>
            <a:off x="4718304" y="3675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高风险事实错误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D66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平台硬规则失败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4718304" y="457200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立即阻断导出；不能靠质量总分放行。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973568" y="2880360"/>
            <a:ext cx="3803904" cy="2578608"/>
          </a:xfrm>
          <a:prstGeom prst="roundRect">
            <a:avLst>
              <a:gd name="adj" fmla="val 7092"/>
            </a:avLst>
          </a:prstGeom>
          <a:solidFill>
            <a:srgbClr val="DCEFE7"/>
          </a:solidFill>
          <a:ln w="12700">
            <a:solidFill>
              <a:srgbClr val="1E66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15468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02752" y="3172968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LOOP</a:t>
            </a:r>
            <a:endParaRPr lang="en-US" sz="88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36667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→ 新版本 → 重新执行 N05 / N06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229600" y="448970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自动检查全部通过后，仍必须由人工明确批准才能导出。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566928" y="5696712"/>
            <a:ext cx="11210544" cy="438912"/>
          </a:xfrm>
          <a:prstGeom prst="roundRect">
            <a:avLst>
              <a:gd name="adj" fmla="val 29167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68096" y="5779008"/>
            <a:ext cx="10808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GATE  =  fact_check pass  +  rule_check pass  +  high-risk errors 0  +  human approved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PRODUCT DEMO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一个离线可复现的五步编辑台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冻结评测内容 + 确定性模板：无需 API，也能完整演示生成、核验、修订与导出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3730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pic>
        <p:nvPicPr>
          <p:cNvPr id="6" name="Image 0" descr="① 商品资料 / 营销任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9928"/>
            <a:ext cx="3657600" cy="2057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947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商品资料 / 营销任务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233672" y="1673352"/>
            <a:ext cx="3730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pic>
        <p:nvPicPr>
          <p:cNvPr id="9" name="Image 1" descr="② 质量检查 / 风险定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709928"/>
            <a:ext cx="3657600" cy="2057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37947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质量检查 / 风险定位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936992" y="1673352"/>
            <a:ext cx="3730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pic>
        <p:nvPicPr>
          <p:cNvPr id="12" name="Image 2" descr="③ 版本对比 / 人工终审 / 导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709928"/>
            <a:ext cx="3657600" cy="2057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版本对比 / 人工终审 / 导出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66928" y="4370832"/>
            <a:ext cx="2075688" cy="1216152"/>
          </a:xfrm>
          <a:prstGeom prst="roundRect">
            <a:avLst>
              <a:gd name="adj" fmla="val 1278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4088" y="4535424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4553712"/>
            <a:ext cx="301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4498848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04088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SKU · US/MX · 3 内容类型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2843784" y="4370832"/>
            <a:ext cx="2075688" cy="1216152"/>
          </a:xfrm>
          <a:prstGeom prst="roundRect">
            <a:avLst>
              <a:gd name="adj" fmla="val 1278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980944" y="4535424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054096" y="4553712"/>
            <a:ext cx="301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22" name="Text 17"/>
          <p:cNvSpPr txBox="1"/>
          <p:nvPr/>
        </p:nvSpPr>
        <p:spPr>
          <a:xfrm>
            <a:off x="3538728" y="4498848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298094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Listing + TikTok + 社媒内容包</a:t>
            </a:r>
            <a:endParaRPr lang="en-US" sz="930" dirty="0"/>
          </a:p>
        </p:txBody>
      </p:sp>
      <p:sp>
        <p:nvSpPr>
          <p:cNvPr id="24" name="Shape 19"/>
          <p:cNvSpPr/>
          <p:nvPr/>
        </p:nvSpPr>
        <p:spPr>
          <a:xfrm>
            <a:off x="5120640" y="4370832"/>
            <a:ext cx="2075688" cy="1216152"/>
          </a:xfrm>
          <a:prstGeom prst="roundRect">
            <a:avLst>
              <a:gd name="adj" fmla="val 1278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257800" y="4535424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330952" y="4553712"/>
            <a:ext cx="301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27" name="Text 22"/>
          <p:cNvSpPr txBox="1"/>
          <p:nvPr/>
        </p:nvSpPr>
        <p:spPr>
          <a:xfrm>
            <a:off x="5815584" y="4498848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257800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每条声明显示事实来源</a:t>
            </a:r>
            <a:endParaRPr lang="en-US" sz="930" dirty="0"/>
          </a:p>
        </p:txBody>
      </p:sp>
      <p:sp>
        <p:nvSpPr>
          <p:cNvPr id="29" name="Shape 24"/>
          <p:cNvSpPr/>
          <p:nvPr/>
        </p:nvSpPr>
        <p:spPr>
          <a:xfrm>
            <a:off x="7397496" y="4370832"/>
            <a:ext cx="2075688" cy="1216152"/>
          </a:xfrm>
          <a:prstGeom prst="roundRect">
            <a:avLst>
              <a:gd name="adj" fmla="val 12782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534656" y="4535424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607808" y="4553712"/>
            <a:ext cx="301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" dirty="0"/>
          </a:p>
        </p:txBody>
      </p:sp>
      <p:sp>
        <p:nvSpPr>
          <p:cNvPr id="32" name="Text 27"/>
          <p:cNvSpPr txBox="1"/>
          <p:nvPr/>
        </p:nvSpPr>
        <p:spPr>
          <a:xfrm>
            <a:off x="8092440" y="4498848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7534656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人工修改后重新执行质量门槛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9674352" y="4370832"/>
            <a:ext cx="2075688" cy="1216152"/>
          </a:xfrm>
          <a:prstGeom prst="roundRect">
            <a:avLst>
              <a:gd name="adj" fmla="val 12782"/>
            </a:avLst>
          </a:prstGeom>
          <a:solidFill>
            <a:srgbClr val="0D2F2A"/>
          </a:solidFill>
          <a:ln w="12700">
            <a:solidFill>
              <a:srgbClr val="0D2F2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811512" y="4535424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E8B44F"/>
          </a:solidFill>
          <a:ln w="12700">
            <a:solidFill>
              <a:srgbClr val="E8B44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884664" y="4553712"/>
            <a:ext cx="301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" dirty="0"/>
          </a:p>
        </p:txBody>
      </p:sp>
      <p:sp>
        <p:nvSpPr>
          <p:cNvPr id="37" name="Text 32"/>
          <p:cNvSpPr txBox="1"/>
          <p:nvPr/>
        </p:nvSpPr>
        <p:spPr>
          <a:xfrm>
            <a:off x="10369296" y="4498848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9811512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CFE2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通过终审后开放 CSV / JSON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566928" y="5843016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40080" y="5861304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BOUNDARY</a:t>
            </a:r>
            <a:endParaRPr lang="en-US" sz="880" dirty="0"/>
          </a:p>
        </p:txBody>
      </p:sp>
      <p:sp>
        <p:nvSpPr>
          <p:cNvPr id="41" name="Text 36"/>
          <p:cNvSpPr txBox="1"/>
          <p:nvPr/>
        </p:nvSpPr>
        <p:spPr>
          <a:xfrm>
            <a:off x="2084832" y="58338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不调用模型 API · 不连接发布平台 · 不代表法务或平台批准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EVALUATION &amp; VALUE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组盲评：质量更高，复核负担更低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真实评测与情景估算分层呈现；不把估算数字包装成已验证成果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36776"/>
            <a:ext cx="4736592" cy="3127248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七维总体均分（1–5）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59536" y="2331720"/>
          <a:ext cx="4114800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9536" y="4334256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" y="435254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BLIND REVIEW</a:t>
            </a:r>
            <a:endParaRPr lang="en-US" sz="88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43525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30 pairs / 60 candidates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59552" y="1636776"/>
            <a:ext cx="2779776" cy="960120"/>
          </a:xfrm>
          <a:prstGeom prst="roundRect">
            <a:avLst>
              <a:gd name="adj" fmla="val 15238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05856" y="1755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−61.5%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705856" y="21579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平均修改次数 · 3.63 → 1.40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40496" y="1636776"/>
            <a:ext cx="3236976" cy="960120"/>
          </a:xfrm>
          <a:prstGeom prst="roundRect">
            <a:avLst>
              <a:gd name="adj" fmla="val 15238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0" y="175564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−25.8%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215798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平均审核时间 · 6.33 → 4.70 分钟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59552" y="2816352"/>
            <a:ext cx="2779776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05856" y="29352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+26.7 pp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705856" y="3337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事实通过率 · 40.0% → 66.7%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540496" y="2816352"/>
            <a:ext cx="3236976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293522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3375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配对中 LocalizeFlow 胜出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559552" y="4041648"/>
            <a:ext cx="6217920" cy="1335024"/>
          </a:xfrm>
          <a:prstGeom prst="roundRect">
            <a:avLst>
              <a:gd name="adj" fmla="val 12329"/>
            </a:avLst>
          </a:prstGeom>
          <a:solidFill>
            <a:srgbClr val="F7DDD8"/>
          </a:solidFill>
          <a:ln w="12700">
            <a:solidFill>
              <a:srgbClr val="D6645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15584" y="43159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D66456"/>
          </a:solidFill>
          <a:ln w="12700">
            <a:solidFill>
              <a:srgbClr val="D66456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88736" y="4334256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FAILURE</a:t>
            </a:r>
            <a:endParaRPr lang="en-US" sz="880" dirty="0"/>
          </a:p>
        </p:txBody>
      </p:sp>
      <p:sp>
        <p:nvSpPr>
          <p:cNvPr id="26" name="Text 23"/>
          <p:cNvSpPr txBox="1"/>
          <p:nvPr/>
        </p:nvSpPr>
        <p:spPr>
          <a:xfrm>
            <a:off x="7388352" y="4233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66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 SKU 的事实错误率仍为 33.3%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7388352" y="46451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主要来自包装字段补全；项目保留失败案例，不用平均分掩盖。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566928" y="5596128"/>
            <a:ext cx="11210544" cy="548640"/>
          </a:xfrm>
          <a:prstGeom prst="roundRect">
            <a:avLst>
              <a:gd name="adj" fmla="val 26667"/>
            </a:avLst>
          </a:prstGeom>
          <a:solidFill>
            <a:srgbClr val="F8EDCF"/>
          </a:solidFill>
          <a:ln w="12700">
            <a:solidFill>
              <a:srgbClr val="E8B4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" y="571500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8B44F"/>
          </a:solidFill>
          <a:ln w="12700">
            <a:solidFill>
              <a:srgbClr val="E8B44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" y="5733288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80" dirty="0"/>
          </a:p>
        </p:txBody>
      </p:sp>
      <p:sp>
        <p:nvSpPr>
          <p:cNvPr id="31" name="Text 28"/>
          <p:cNvSpPr txBox="1"/>
          <p:nvPr/>
        </p:nvSpPr>
        <p:spPr>
          <a:xfrm>
            <a:off x="1883664" y="5669280"/>
            <a:ext cx="9555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84.4% 仅为 AI 估算纯人工时间 + 实际复核/系统记录的情景结果，不是人工实测，不能表述为已验证效率提升。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LIMITS &amp;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把局限写清楚，也把下一步做成路线图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70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这是一套可演示、可验证的 MVP，不是已上线的自动发布系统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当前局限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4791456" cy="612648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32257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234086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2267712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品牌 / 5 SKU，不能外推到其他品类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4791456" cy="612648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07238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090672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3017520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单评审者，无法计算评审者间一致性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3675888"/>
            <a:ext cx="4791456" cy="612648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382219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8404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3767328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缺少国家字段，只能作为语言代理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4791456" cy="612648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45720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590288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1581912" y="4517136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离线确定性 Demo，未测在线延迟与成本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4791456" cy="612648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5321808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7DDD8"/>
          </a:solidFill>
          <a:ln w="12700">
            <a:solidFill>
              <a:srgbClr val="F7DDD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340096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6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1581912" y="5266944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D29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规则预检不代表平台或法务批准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715000" y="2176272"/>
            <a:ext cx="6062472" cy="758952"/>
          </a:xfrm>
          <a:prstGeom prst="roundRect">
            <a:avLst>
              <a:gd name="adj" fmla="val 19277"/>
            </a:avLst>
          </a:prstGeom>
          <a:solidFill>
            <a:srgbClr val="DCEFE7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07024" y="239572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0176" y="241401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30" name="Text 28"/>
          <p:cNvSpPr txBox="1"/>
          <p:nvPr/>
        </p:nvSpPr>
        <p:spPr>
          <a:xfrm>
            <a:off x="6601968" y="22677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2267712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拆分包装材质/结构字段；缺失即阻断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15000" y="3118104"/>
            <a:ext cx="6062472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07024" y="333756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0176" y="335584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6601968" y="320954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评测层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424928" y="3209544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增加双评审者与目标国家本地样本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15000" y="4059936"/>
            <a:ext cx="6062472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07024" y="427939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0176" y="429768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6601968" y="415137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424928" y="4151376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API 后记录结构成功率、延迟、费用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15000" y="5001768"/>
            <a:ext cx="6062472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CED8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07024" y="522122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CEFE7"/>
          </a:solidFill>
          <a:ln w="12700">
            <a:solidFill>
              <a:srgbClr val="DCEFE7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0176" y="5239512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2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6601968" y="50932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2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产品层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424928" y="5093208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接入真实商品后台前先完成权限与审计设计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715000" y="5961888"/>
            <a:ext cx="6062472" cy="320040"/>
          </a:xfrm>
          <a:prstGeom prst="roundRect">
            <a:avLst>
              <a:gd name="adj" fmla="val 40000"/>
            </a:avLst>
          </a:prstGeom>
          <a:solidFill>
            <a:srgbClr val="0D2F2A"/>
          </a:solidFill>
          <a:ln w="12700">
            <a:solidFill>
              <a:srgbClr val="0D2F2A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34456" y="6007608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接入前先提醒配置；密钥只进入本地 .env，不进代码、文档或截图。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5961888"/>
            <a:ext cx="4791456" cy="320040"/>
          </a:xfrm>
          <a:prstGeom prst="roundRect">
            <a:avLst>
              <a:gd name="adj" fmla="val 40000"/>
            </a:avLst>
          </a:prstGeom>
          <a:solidFill>
            <a:srgbClr val="1E6658"/>
          </a:solidFill>
          <a:ln w="12700">
            <a:solidFill>
              <a:srgbClr val="1E665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9808" y="6007608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PACKAGE  ·  README  ·  DEMO  ·  PPT  ·  VIDEO  ·  TRACEABLE METRICS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LocalizeFlow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LocalizeFlow 项目概览</dc:title>
  <dc:subject>跨境商品本地化 Copilot 项目概览</dc:subject>
  <dc:creator>LocalizeFlow</dc:creator>
  <cp:lastModifiedBy>LocalizeFlow</cp:lastModifiedBy>
  <cp:revision>1</cp:revision>
  <dcterms:created xsi:type="dcterms:W3CDTF">2026-07-31T11:55:11Z</dcterms:created>
  <dcterms:modified xsi:type="dcterms:W3CDTF">2026-07-31T11:55:11Z</dcterms:modified>
</cp:coreProperties>
</file>